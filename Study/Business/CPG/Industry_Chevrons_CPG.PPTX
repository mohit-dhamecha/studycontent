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759" r:id="rId4"/>
  </p:sldMasterIdLst>
  <p:notesMasterIdLst>
    <p:notesMasterId r:id="rId7"/>
  </p:notesMasterIdLst>
  <p:handoutMasterIdLst>
    <p:handoutMasterId r:id="rId8"/>
  </p:handoutMasterIdLst>
  <p:sldIdLst>
    <p:sldId id="256" r:id="rId5"/>
    <p:sldId id="274" r:id="rId6"/>
  </p:sldIdLst>
  <p:sldSz cx="9902825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10000"/>
      </a:spcBef>
      <a:spcAft>
        <a:spcPct val="0"/>
      </a:spcAft>
      <a:buClr>
        <a:srgbClr val="0B1F65"/>
      </a:buClr>
      <a:buFont typeface="Webdings" pitchFamily="18" charset="2"/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1pPr>
    <a:lvl2pPr marL="457200" algn="ctr" rtl="0" eaLnBrk="0" fontAlgn="base" hangingPunct="0">
      <a:spcBef>
        <a:spcPct val="10000"/>
      </a:spcBef>
      <a:spcAft>
        <a:spcPct val="0"/>
      </a:spcAft>
      <a:buClr>
        <a:srgbClr val="0B1F65"/>
      </a:buClr>
      <a:buFont typeface="Webdings" pitchFamily="18" charset="2"/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2pPr>
    <a:lvl3pPr marL="914400" algn="ctr" rtl="0" eaLnBrk="0" fontAlgn="base" hangingPunct="0">
      <a:spcBef>
        <a:spcPct val="10000"/>
      </a:spcBef>
      <a:spcAft>
        <a:spcPct val="0"/>
      </a:spcAft>
      <a:buClr>
        <a:srgbClr val="0B1F65"/>
      </a:buClr>
      <a:buFont typeface="Webdings" pitchFamily="18" charset="2"/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3pPr>
    <a:lvl4pPr marL="1371600" algn="ctr" rtl="0" eaLnBrk="0" fontAlgn="base" hangingPunct="0">
      <a:spcBef>
        <a:spcPct val="10000"/>
      </a:spcBef>
      <a:spcAft>
        <a:spcPct val="0"/>
      </a:spcAft>
      <a:buClr>
        <a:srgbClr val="0B1F65"/>
      </a:buClr>
      <a:buFont typeface="Webdings" pitchFamily="18" charset="2"/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4pPr>
    <a:lvl5pPr marL="1828800" algn="ctr" rtl="0" eaLnBrk="0" fontAlgn="base" hangingPunct="0">
      <a:spcBef>
        <a:spcPct val="10000"/>
      </a:spcBef>
      <a:spcAft>
        <a:spcPct val="0"/>
      </a:spcAft>
      <a:buClr>
        <a:srgbClr val="0B1F65"/>
      </a:buClr>
      <a:buFont typeface="Webdings" pitchFamily="18" charset="2"/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1100" kern="1200">
        <a:solidFill>
          <a:schemeClr val="tx1"/>
        </a:solidFill>
        <a:latin typeface="Arial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riram Thiagarajan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7979"/>
    <a:srgbClr val="434344"/>
    <a:srgbClr val="0098CE"/>
    <a:srgbClr val="0273C1"/>
    <a:srgbClr val="680101"/>
    <a:srgbClr val="670101"/>
    <a:srgbClr val="010101"/>
    <a:srgbClr val="F6F6F6"/>
    <a:srgbClr val="EDC211"/>
    <a:srgbClr val="EE7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62" autoAdjust="0"/>
    <p:restoredTop sz="94384" autoAdjust="0"/>
  </p:normalViewPr>
  <p:slideViewPr>
    <p:cSldViewPr snapToObjects="1">
      <p:cViewPr varScale="1">
        <p:scale>
          <a:sx n="90" d="100"/>
          <a:sy n="90" d="100"/>
        </p:scale>
        <p:origin x="1428" y="90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872288" y="9398000"/>
            <a:ext cx="395287" cy="163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0"/>
              </a:spcBef>
              <a:buClrTx/>
              <a:buFontTx/>
              <a:buNone/>
              <a:defRPr sz="800"/>
            </a:lvl1pPr>
          </a:lstStyle>
          <a:p>
            <a:fld id="{0930B7C4-A07F-45E8-A56F-A23132B9C82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16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8175" y="4562475"/>
            <a:ext cx="5986463" cy="473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618" tIns="47461" rIns="96618" bIns="474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76275" y="220663"/>
            <a:ext cx="5911850" cy="4092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2" name="Rectangle 4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7027863" y="9417050"/>
            <a:ext cx="239712" cy="144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0"/>
              </a:spcBef>
              <a:buClrTx/>
              <a:buFontTx/>
              <a:buNone/>
              <a:defRPr sz="800"/>
            </a:lvl1pPr>
          </a:lstStyle>
          <a:p>
            <a:fld id="{62DCC290-FBB5-460F-B5AA-0FCBA6852F2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21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7800" indent="-177800" algn="l" rtl="0" eaLnBrk="0" fontAlgn="base" hangingPunct="0">
      <a:spcBef>
        <a:spcPct val="100000"/>
      </a:spcBef>
      <a:spcAft>
        <a:spcPct val="0"/>
      </a:spcAft>
      <a:buFont typeface="Webdings" pitchFamily="18" charset="2"/>
      <a:buChar char="4"/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42900" indent="-163513" algn="l" rtl="0" eaLnBrk="0" fontAlgn="base" hangingPunct="0">
      <a:lnSpc>
        <a:spcPct val="85000"/>
      </a:lnSpc>
      <a:spcBef>
        <a:spcPct val="45000"/>
      </a:spcBef>
      <a:spcAft>
        <a:spcPct val="0"/>
      </a:spcAft>
      <a:buChar char="–"/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520700" indent="-176213" algn="l" rtl="0" eaLnBrk="0" fontAlgn="base" hangingPunct="0">
      <a:lnSpc>
        <a:spcPct val="85000"/>
      </a:lnSpc>
      <a:spcBef>
        <a:spcPct val="45000"/>
      </a:spcBef>
      <a:spcAft>
        <a:spcPct val="0"/>
      </a:spcAft>
      <a:buFont typeface="Webdings" pitchFamily="18" charset="2"/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685800" indent="-163513" algn="l" rtl="0" eaLnBrk="0" fontAlgn="base" hangingPunct="0">
      <a:lnSpc>
        <a:spcPct val="85000"/>
      </a:lnSpc>
      <a:spcBef>
        <a:spcPct val="45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220663"/>
            <a:ext cx="5908675" cy="4092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DCC290-FBB5-460F-B5AA-0FCBA6852F2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0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 Sigma 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0" y="3492500"/>
            <a:ext cx="9902825" cy="3382963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1609725" y="1003300"/>
            <a:ext cx="0" cy="1905000"/>
          </a:xfrm>
          <a:prstGeom prst="line">
            <a:avLst/>
          </a:prstGeom>
          <a:noFill/>
          <a:ln w="101600">
            <a:solidFill>
              <a:srgbClr val="0B1F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1970088" y="1058863"/>
          <a:ext cx="10858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48" r:id="rId3" imgW="1085714" imgH="1286055" progId="PBrush">
                  <p:embed/>
                </p:oleObj>
              </mc:Choice>
              <mc:Fallback>
                <p:oleObj r:id="rId3" imgW="1085714" imgH="1286055" progId="PBrush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1058863"/>
                        <a:ext cx="1085850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3685041" y="4094163"/>
            <a:ext cx="2509837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Chicago, IL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Bangalore, India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www.mu-sigma.com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153888" y="5785754"/>
            <a:ext cx="7569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  <a:tabLst>
                <a:tab pos="2971800" algn="ctr"/>
                <a:tab pos="5943600" algn="r"/>
              </a:tabLst>
            </a:pPr>
            <a:r>
              <a:rPr lang="en-US" sz="1000" b="1" u="sng" dirty="0">
                <a:solidFill>
                  <a:schemeClr val="bg1"/>
                </a:solidFill>
              </a:rPr>
              <a:t>Proprietary Information</a:t>
            </a:r>
            <a:endParaRPr lang="en-US" sz="1000" u="sng" dirty="0">
              <a:solidFill>
                <a:schemeClr val="bg1"/>
              </a:solidFill>
              <a:ea typeface="Arial Unicode MS" pitchFamily="34" charset="-128"/>
              <a:cs typeface="Arial Unicode MS" pitchFamily="34" charset="-128"/>
            </a:endParaRPr>
          </a:p>
          <a:p>
            <a:pPr>
              <a:spcBef>
                <a:spcPct val="0"/>
              </a:spcBef>
              <a:buClrTx/>
              <a:buFontTx/>
              <a:buNone/>
              <a:tabLst>
                <a:tab pos="2971800" algn="ctr"/>
                <a:tab pos="5943600" algn="r"/>
              </a:tabLst>
            </a:pPr>
            <a:endParaRPr lang="en-US" sz="1000" u="sng" dirty="0">
              <a:solidFill>
                <a:schemeClr val="bg1"/>
              </a:solidFill>
            </a:endParaRPr>
          </a:p>
        </p:txBody>
      </p:sp>
      <p:sp>
        <p:nvSpPr>
          <p:cNvPr id="5" name="Title Placeholder 13"/>
          <p:cNvSpPr>
            <a:spLocks noGrp="1"/>
          </p:cNvSpPr>
          <p:nvPr>
            <p:ph type="title" hasCustomPrompt="1"/>
          </p:nvPr>
        </p:nvSpPr>
        <p:spPr>
          <a:xfrm>
            <a:off x="1872343" y="2467429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 dirty="0"/>
              <a:t>Project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598863" y="5108573"/>
            <a:ext cx="2671762" cy="522288"/>
          </a:xfrm>
        </p:spPr>
        <p:txBody>
          <a:bodyPr anchor="ctr">
            <a:normAutofit/>
          </a:bodyPr>
          <a:lstStyle>
            <a:lvl1pPr algn="ctr">
              <a:buNone/>
              <a:defRPr sz="18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838202" y="6045651"/>
            <a:ext cx="820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0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"This document and its attachments are confidential.  Any</a:t>
            </a:r>
            <a:r>
              <a:rPr lang="en-US" sz="10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unauthorized copying, disclosure or distribution of the material is strictly forbidden"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1000" b="1" dirty="0">
                <a:solidFill>
                  <a:schemeClr val="bg1"/>
                </a:solidFill>
              </a:rPr>
              <a:t>	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1873250" y="2971800"/>
            <a:ext cx="6858000" cy="457200"/>
          </a:xfrm>
        </p:spPr>
        <p:txBody>
          <a:bodyPr anchor="ctr"/>
          <a:lstStyle>
            <a:lvl1pPr marL="234950" indent="-12065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US" sz="2000" b="1" i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US" sz="20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20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20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20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Meeting Title</a:t>
            </a:r>
          </a:p>
        </p:txBody>
      </p:sp>
      <p:sp>
        <p:nvSpPr>
          <p:cNvPr id="14" name="Rectangle 11"/>
          <p:cNvSpPr>
            <a:spLocks noChangeArrowheads="1"/>
          </p:cNvSpPr>
          <p:nvPr userDrawn="1"/>
        </p:nvSpPr>
        <p:spPr bwMode="auto">
          <a:xfrm>
            <a:off x="0" y="3492500"/>
            <a:ext cx="9902825" cy="3382963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Line 6"/>
          <p:cNvSpPr>
            <a:spLocks noChangeShapeType="1"/>
          </p:cNvSpPr>
          <p:nvPr userDrawn="1"/>
        </p:nvSpPr>
        <p:spPr bwMode="auto">
          <a:xfrm>
            <a:off x="1609725" y="1003300"/>
            <a:ext cx="0" cy="1905000"/>
          </a:xfrm>
          <a:prstGeom prst="line">
            <a:avLst/>
          </a:prstGeom>
          <a:noFill/>
          <a:ln w="101600">
            <a:solidFill>
              <a:srgbClr val="0B1F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 userDrawn="1"/>
        </p:nvGraphicFramePr>
        <p:xfrm>
          <a:off x="1970088" y="1058863"/>
          <a:ext cx="10858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49" r:id="rId5" imgW="1085714" imgH="1286055" progId="PBrush">
                  <p:embed/>
                </p:oleObj>
              </mc:Choice>
              <mc:Fallback>
                <p:oleObj r:id="rId5" imgW="1085714" imgH="1286055" progId="PBrush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1058863"/>
                        <a:ext cx="1085850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2"/>
          <p:cNvSpPr>
            <a:spLocks noChangeArrowheads="1"/>
          </p:cNvSpPr>
          <p:nvPr userDrawn="1"/>
        </p:nvSpPr>
        <p:spPr bwMode="auto">
          <a:xfrm>
            <a:off x="3685041" y="4094163"/>
            <a:ext cx="2509837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Chicago, IL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Bangalore, India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www.mu-sigma.com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Rectangle 13"/>
          <p:cNvSpPr>
            <a:spLocks noChangeArrowheads="1"/>
          </p:cNvSpPr>
          <p:nvPr userDrawn="1"/>
        </p:nvSpPr>
        <p:spPr bwMode="auto">
          <a:xfrm>
            <a:off x="1153888" y="5785754"/>
            <a:ext cx="7569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  <a:tabLst>
                <a:tab pos="2971800" algn="ctr"/>
                <a:tab pos="5943600" algn="r"/>
              </a:tabLst>
            </a:pPr>
            <a:r>
              <a:rPr lang="en-US" sz="1000" b="1" u="sng" dirty="0">
                <a:solidFill>
                  <a:schemeClr val="bg1"/>
                </a:solidFill>
              </a:rPr>
              <a:t>Proprietary Information</a:t>
            </a:r>
            <a:endParaRPr lang="en-US" sz="1000" u="sng" dirty="0">
              <a:solidFill>
                <a:schemeClr val="bg1"/>
              </a:solidFill>
              <a:ea typeface="Arial Unicode MS" pitchFamily="34" charset="-128"/>
              <a:cs typeface="Arial Unicode MS" pitchFamily="34" charset="-128"/>
            </a:endParaRPr>
          </a:p>
          <a:p>
            <a:pPr>
              <a:spcBef>
                <a:spcPct val="0"/>
              </a:spcBef>
              <a:buClrTx/>
              <a:buFontTx/>
              <a:buNone/>
              <a:tabLst>
                <a:tab pos="2971800" algn="ctr"/>
                <a:tab pos="5943600" algn="r"/>
              </a:tabLst>
            </a:pPr>
            <a:endParaRPr lang="en-US" sz="1000" u="sng" dirty="0">
              <a:solidFill>
                <a:schemeClr val="bg1"/>
              </a:solidFill>
            </a:endParaRPr>
          </a:p>
        </p:txBody>
      </p:sp>
      <p:sp>
        <p:nvSpPr>
          <p:cNvPr id="20" name="Rectangle 14"/>
          <p:cNvSpPr>
            <a:spLocks noChangeArrowheads="1"/>
          </p:cNvSpPr>
          <p:nvPr userDrawn="1"/>
        </p:nvSpPr>
        <p:spPr bwMode="auto">
          <a:xfrm>
            <a:off x="838202" y="6045651"/>
            <a:ext cx="820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0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"This document and its attachments are confidential.  Any</a:t>
            </a:r>
            <a:r>
              <a:rPr lang="en-US" sz="10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unauthorized copying, disclosure or distribution of the material is strictly forbidden"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1000" b="1" dirty="0">
                <a:solidFill>
                  <a:schemeClr val="bg1"/>
                </a:solidFill>
              </a:rPr>
              <a:t>	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1" name="TextBox 23"/>
          <p:cNvSpPr txBox="1">
            <a:spLocks noChangeArrowheads="1"/>
          </p:cNvSpPr>
          <p:nvPr userDrawn="1"/>
        </p:nvSpPr>
        <p:spPr bwMode="auto">
          <a:xfrm>
            <a:off x="3241675" y="3556000"/>
            <a:ext cx="3403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</a:rPr>
              <a:t>Do The Math</a:t>
            </a:r>
          </a:p>
        </p:txBody>
      </p:sp>
      <p:cxnSp>
        <p:nvCxnSpPr>
          <p:cNvPr id="22" name="Straight Connector 25"/>
          <p:cNvCxnSpPr>
            <a:cxnSpLocks noChangeShapeType="1"/>
          </p:cNvCxnSpPr>
          <p:nvPr userDrawn="1"/>
        </p:nvCxnSpPr>
        <p:spPr bwMode="auto">
          <a:xfrm flipV="1">
            <a:off x="4157663" y="3951288"/>
            <a:ext cx="1554162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/>
          <a:p>
            <a:r>
              <a:rPr lang="en-US" dirty="0"/>
              <a:t>What is the Key Takeaway from the Slide?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rgbClr val="003399"/>
              </a:buClr>
              <a:defRPr/>
            </a:lvl1pPr>
            <a:lvl2pPr>
              <a:buClr>
                <a:srgbClr val="003399"/>
              </a:buClr>
              <a:defRPr/>
            </a:lvl2pPr>
            <a:lvl3pPr>
              <a:buClr>
                <a:srgbClr val="003399"/>
              </a:buClr>
              <a:defRPr/>
            </a:lvl3pPr>
            <a:lvl4pPr>
              <a:buClr>
                <a:srgbClr val="003399"/>
              </a:buClr>
              <a:defRPr/>
            </a:lvl4pPr>
          </a:lstStyle>
          <a:p>
            <a:pPr lvl="0"/>
            <a:r>
              <a:rPr lang="en-US" dirty="0"/>
              <a:t>Supporting Points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aphicFrame>
        <p:nvGraphicFramePr>
          <p:cNvPr id="1118210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645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2743200"/>
            <a:ext cx="6705600" cy="2971800"/>
          </a:xfrm>
        </p:spPr>
        <p:txBody>
          <a:bodyPr/>
          <a:lstStyle>
            <a:lvl1pPr>
              <a:defRPr/>
            </a:lvl1pPr>
            <a:lvl2pPr marL="452438" lvl="1" indent="-215900">
              <a:defRPr/>
            </a:lvl2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600200" y="1219200"/>
            <a:ext cx="6705600" cy="1143000"/>
          </a:xfrm>
        </p:spPr>
        <p:txBody>
          <a:bodyPr tIns="45720" bIns="4572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8020" name="Line 4"/>
          <p:cNvSpPr>
            <a:spLocks noChangeShapeType="1"/>
          </p:cNvSpPr>
          <p:nvPr/>
        </p:nvSpPr>
        <p:spPr bwMode="auto">
          <a:xfrm>
            <a:off x="1422400" y="1905000"/>
            <a:ext cx="0" cy="457200"/>
          </a:xfrm>
          <a:prstGeom prst="line">
            <a:avLst/>
          </a:prstGeom>
          <a:noFill/>
          <a:ln w="76200">
            <a:solidFill>
              <a:srgbClr val="0B1F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9509760" y="6492240"/>
            <a:ext cx="18755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2B114154-8EFE-4493-ABC9-427AC67F52E5}" type="slidenum">
              <a:rPr lang="en-US" sz="1200"/>
              <a:pPr algn="r"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en-US" sz="1200" dirty="0"/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9509760" y="6492240"/>
            <a:ext cx="18755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2B114154-8EFE-4493-ABC9-427AC67F52E5}" type="slidenum">
              <a:rPr lang="en-US" sz="1200"/>
              <a:pPr algn="r"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en-US" sz="1200" dirty="0"/>
          </a:p>
        </p:txBody>
      </p:sp>
      <p:graphicFrame>
        <p:nvGraphicFramePr>
          <p:cNvPr id="1119234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669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 userDrawn="1"/>
        </p:nvSpPr>
        <p:spPr>
          <a:xfrm>
            <a:off x="182880" y="6492240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 Sigma Confidential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/>
          <a:p>
            <a:r>
              <a:rPr lang="en-US" dirty="0"/>
              <a:t>What is the Key Takeaway from the Slide?</a:t>
            </a:r>
          </a:p>
        </p:txBody>
      </p:sp>
      <p:graphicFrame>
        <p:nvGraphicFramePr>
          <p:cNvPr id="1120258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693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is the Key Takeaway from the Slide?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13" y="1381125"/>
            <a:ext cx="4305300" cy="4191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813" y="1381125"/>
            <a:ext cx="4305300" cy="4191000"/>
          </a:xfrm>
        </p:spPr>
        <p:txBody>
          <a:bodyPr/>
          <a:lstStyle>
            <a:lvl1pPr>
              <a:defRPr sz="1600"/>
            </a:lvl1pPr>
            <a:lvl2pPr>
              <a:defRPr lang="en-US" sz="1400" dirty="0" smtClean="0">
                <a:solidFill>
                  <a:schemeClr val="tx1"/>
                </a:solidFill>
                <a:latin typeface="+mn-lt"/>
              </a:defRPr>
            </a:lvl2pPr>
            <a:lvl3pPr>
              <a:defRPr lang="en-US" sz="1300" baseline="0" dirty="0" smtClean="0">
                <a:solidFill>
                  <a:schemeClr val="tx1"/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/>
                </a:solidFill>
                <a:latin typeface="+mn-lt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aphicFrame>
        <p:nvGraphicFramePr>
          <p:cNvPr id="1121282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717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371337"/>
            <a:ext cx="4375150" cy="63976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5150" cy="395128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788" y="1371337"/>
            <a:ext cx="4376737" cy="63976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6737" cy="395128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81000"/>
            <a:ext cx="8985250" cy="838200"/>
          </a:xfrm>
        </p:spPr>
        <p:txBody>
          <a:bodyPr/>
          <a:lstStyle/>
          <a:p>
            <a:r>
              <a:rPr lang="en-US" dirty="0"/>
              <a:t>What is the Key Takeaway from the Slide?</a:t>
            </a:r>
          </a:p>
        </p:txBody>
      </p:sp>
      <p:graphicFrame>
        <p:nvGraphicFramePr>
          <p:cNvPr id="1122306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741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3330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765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Con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5378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61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is the Key Takeaway from the Slide?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/>
        </p:nvGraphicFramePr>
        <p:xfrm>
          <a:off x="443967" y="1431572"/>
          <a:ext cx="4297680" cy="2208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Company Facts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48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 userDrawn="1"/>
        </p:nvGraphicFramePr>
        <p:xfrm>
          <a:off x="443967" y="3933472"/>
          <a:ext cx="4297680" cy="2208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Company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48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1816100"/>
            <a:ext cx="4297680" cy="18161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Describe the company in terms of their business presence etc.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4318000"/>
            <a:ext cx="4297680" cy="18161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/>
            </a:lvl1pPr>
            <a:lvl2pPr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How has the company been performing?</a:t>
            </a:r>
          </a:p>
          <a:p>
            <a:pPr lvl="1"/>
            <a:r>
              <a:rPr lang="en-US" dirty="0"/>
              <a:t>Second level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 userDrawn="1"/>
        </p:nvGraphicFramePr>
        <p:xfrm>
          <a:off x="5181067" y="1431572"/>
          <a:ext cx="4297680" cy="2208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Market Situation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48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 userDrawn="1"/>
        </p:nvGraphicFramePr>
        <p:xfrm>
          <a:off x="5181067" y="3933472"/>
          <a:ext cx="4297680" cy="2208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Imperatives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488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181600" y="1816100"/>
            <a:ext cx="4297680" cy="18161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Describe the state of the market that the company is in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181600" y="4318000"/>
            <a:ext cx="4297680" cy="18161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 baseline="0"/>
            </a:lvl1pPr>
            <a:lvl2pPr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According to the company, what are the key focus areas or strategies for the near and distant future?</a:t>
            </a:r>
          </a:p>
          <a:p>
            <a:pPr lvl="1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Q Future Sta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MPDNA – What is the Key Takeaway from the Slide?</a:t>
            </a:r>
          </a:p>
        </p:txBody>
      </p:sp>
      <p:pic>
        <p:nvPicPr>
          <p:cNvPr id="3" name="Picture 4" descr="j0188453[1]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06800" y="3556001"/>
            <a:ext cx="2679700" cy="573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 userDrawn="1"/>
        </p:nvGraphicFramePr>
        <p:xfrm>
          <a:off x="443971" y="2155472"/>
          <a:ext cx="2794529" cy="33309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94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8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Situation – Current</a:t>
                      </a:r>
                      <a:r>
                        <a:rPr lang="en-US" sz="1400" baseline="0" dirty="0"/>
                        <a:t> State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127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540000"/>
            <a:ext cx="2781300" cy="29337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What are the undisputed facts about the client and project?</a:t>
            </a:r>
          </a:p>
          <a:p>
            <a:pPr lvl="1"/>
            <a:r>
              <a:rPr lang="en-US" dirty="0"/>
              <a:t>Second level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 userDrawn="1"/>
        </p:nvGraphicFramePr>
        <p:xfrm>
          <a:off x="6666971" y="2155472"/>
          <a:ext cx="2794529" cy="33309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94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8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Desired Future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127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667500" y="2540000"/>
            <a:ext cx="2781300" cy="29337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Where would the client like to be?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Right Arrow 9"/>
          <p:cNvSpPr/>
          <p:nvPr userDrawn="1"/>
        </p:nvSpPr>
        <p:spPr bwMode="auto">
          <a:xfrm>
            <a:off x="3291840" y="3251200"/>
            <a:ext cx="274320" cy="1188720"/>
          </a:xfrm>
          <a:prstGeom prst="rightArrow">
            <a:avLst>
              <a:gd name="adj1" fmla="val 50000"/>
              <a:gd name="adj2" fmla="val 100000"/>
            </a:avLst>
          </a:prstGeom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234950" marR="0" indent="-23495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ebdings" pitchFamily="18" charset="2"/>
              <a:buChar char="4"/>
              <a:tabLst/>
            </a:pPr>
            <a:endParaRPr lang="en-US" sz="16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>
            <a:off x="6339840" y="3251200"/>
            <a:ext cx="274320" cy="1188720"/>
          </a:xfrm>
          <a:prstGeom prst="rightArrow">
            <a:avLst>
              <a:gd name="adj1" fmla="val 50000"/>
              <a:gd name="adj2" fmla="val 100000"/>
            </a:avLst>
          </a:prstGeom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234950" marR="0" indent="-23495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ebdings" pitchFamily="18" charset="2"/>
              <a:buChar char="4"/>
              <a:tabLst/>
            </a:pPr>
            <a:endParaRPr lang="en-US" sz="16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 userDrawn="1"/>
        </p:nvGraphicFramePr>
        <p:xfrm>
          <a:off x="3378200" y="1304572"/>
          <a:ext cx="3149599" cy="183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9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Complications – The Gap / Trigger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366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390900" y="1676400"/>
            <a:ext cx="3124200" cy="14478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Explain the cause of the gap between the current state and desired future state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Right Arrow 14"/>
          <p:cNvSpPr/>
          <p:nvPr userDrawn="1"/>
        </p:nvSpPr>
        <p:spPr bwMode="auto">
          <a:xfrm rot="5400000">
            <a:off x="4815840" y="2730500"/>
            <a:ext cx="274320" cy="118872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234950" marR="0" indent="-23495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ebdings" pitchFamily="18" charset="2"/>
              <a:buChar char="4"/>
              <a:tabLst/>
            </a:pPr>
            <a:endParaRPr lang="en-US" sz="16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ight Arrow 15"/>
          <p:cNvSpPr/>
          <p:nvPr userDrawn="1"/>
        </p:nvSpPr>
        <p:spPr bwMode="auto">
          <a:xfrm rot="5400000">
            <a:off x="4815840" y="3746500"/>
            <a:ext cx="274320" cy="118872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234950" marR="0" indent="-23495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ebdings" pitchFamily="18" charset="2"/>
              <a:buChar char="4"/>
              <a:tabLst/>
            </a:pPr>
            <a:endParaRPr lang="en-US" sz="16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 userDrawn="1"/>
        </p:nvGraphicFramePr>
        <p:xfrm>
          <a:off x="3378200" y="4530372"/>
          <a:ext cx="3149599" cy="183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9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Questions – which</a:t>
                      </a:r>
                      <a:r>
                        <a:rPr lang="en-US" sz="1400" baseline="0" dirty="0"/>
                        <a:t> need answers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366"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600"/>
                        </a:spcAft>
                        <a:buFont typeface="Webdings" pitchFamily="18" charset="2"/>
                        <a:buChar char="4"/>
                      </a:pPr>
                      <a:endParaRPr lang="en-US" sz="120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90900" y="4902200"/>
            <a:ext cx="3124200" cy="14478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What is the one key question that we should answer to get from current to desired future state?</a:t>
            </a:r>
          </a:p>
          <a:p>
            <a:pPr lvl="1"/>
            <a:r>
              <a:rPr lang="en-US" dirty="0"/>
              <a:t>What questions will help me answer the one key question?</a:t>
            </a:r>
          </a:p>
        </p:txBody>
      </p:sp>
      <p:graphicFrame>
        <p:nvGraphicFramePr>
          <p:cNvPr id="1128450" name="Object 113"/>
          <p:cNvGraphicFramePr>
            <a:graphicFrameLocks noChangeAspect="1"/>
          </p:cNvGraphicFramePr>
          <p:nvPr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86" r:id="rId4" imgW="971686" imgH="895238" progId="PBrush">
                  <p:embed/>
                </p:oleObj>
              </mc:Choice>
              <mc:Fallback>
                <p:oleObj r:id="rId4" imgW="971686" imgH="895238" progId="PBrush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err="1"/>
              <a:t>MuKyun</a:t>
            </a:r>
            <a:r>
              <a:rPr lang="en-US" dirty="0"/>
              <a:t> – What is the Key Takeaway from the Slide?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 userDrawn="1"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143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eform 8"/>
          <p:cNvSpPr/>
          <p:nvPr/>
        </p:nvSpPr>
        <p:spPr>
          <a:xfrm>
            <a:off x="457200" y="1282761"/>
            <a:ext cx="8985248" cy="971303"/>
          </a:xfrm>
          <a:custGeom>
            <a:avLst/>
            <a:gdLst>
              <a:gd name="connsiteX0" fmla="*/ 0 w 8985248"/>
              <a:gd name="connsiteY0" fmla="*/ 97130 h 971303"/>
              <a:gd name="connsiteX1" fmla="*/ 97130 w 8985248"/>
              <a:gd name="connsiteY1" fmla="*/ 0 h 971303"/>
              <a:gd name="connsiteX2" fmla="*/ 8888118 w 8985248"/>
              <a:gd name="connsiteY2" fmla="*/ 0 h 971303"/>
              <a:gd name="connsiteX3" fmla="*/ 8985248 w 8985248"/>
              <a:gd name="connsiteY3" fmla="*/ 97130 h 971303"/>
              <a:gd name="connsiteX4" fmla="*/ 8985248 w 8985248"/>
              <a:gd name="connsiteY4" fmla="*/ 874173 h 971303"/>
              <a:gd name="connsiteX5" fmla="*/ 8888118 w 8985248"/>
              <a:gd name="connsiteY5" fmla="*/ 971303 h 971303"/>
              <a:gd name="connsiteX6" fmla="*/ 97130 w 8985248"/>
              <a:gd name="connsiteY6" fmla="*/ 971303 h 971303"/>
              <a:gd name="connsiteX7" fmla="*/ 0 w 8985248"/>
              <a:gd name="connsiteY7" fmla="*/ 874173 h 971303"/>
              <a:gd name="connsiteX8" fmla="*/ 0 w 8985248"/>
              <a:gd name="connsiteY8" fmla="*/ 97130 h 971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85248" h="971303">
                <a:moveTo>
                  <a:pt x="0" y="97130"/>
                </a:moveTo>
                <a:cubicBezTo>
                  <a:pt x="0" y="43487"/>
                  <a:pt x="43487" y="0"/>
                  <a:pt x="97130" y="0"/>
                </a:cubicBezTo>
                <a:lnTo>
                  <a:pt x="8888118" y="0"/>
                </a:lnTo>
                <a:cubicBezTo>
                  <a:pt x="8941761" y="0"/>
                  <a:pt x="8985248" y="43487"/>
                  <a:pt x="8985248" y="97130"/>
                </a:cubicBezTo>
                <a:lnTo>
                  <a:pt x="8985248" y="874173"/>
                </a:lnTo>
                <a:cubicBezTo>
                  <a:pt x="8985248" y="927816"/>
                  <a:pt x="8941761" y="971303"/>
                  <a:pt x="8888118" y="971303"/>
                </a:cubicBezTo>
                <a:lnTo>
                  <a:pt x="97130" y="971303"/>
                </a:lnTo>
                <a:cubicBezTo>
                  <a:pt x="43487" y="971303"/>
                  <a:pt x="0" y="927816"/>
                  <a:pt x="0" y="874173"/>
                </a:cubicBezTo>
                <a:lnTo>
                  <a:pt x="0" y="97130"/>
                </a:lnTo>
                <a:close/>
              </a:path>
            </a:pathLst>
          </a:custGeom>
          <a:solidFill>
            <a:srgbClr val="D8CBC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66570" tIns="72390" rIns="72390" bIns="72390" numCol="1" spcCol="1270" anchor="t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ebdings" pitchFamily="18" charset="2"/>
              <a:buNone/>
            </a:pPr>
            <a:endParaRPr lang="en-US" sz="1400" kern="12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54330" y="1379891"/>
            <a:ext cx="1797049" cy="7770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B1F65"/>
              </a:buClr>
              <a:buSzTx/>
              <a:buFont typeface="Webdings" pitchFamily="18" charset="2"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Who is the end consumer?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457200" y="2351195"/>
            <a:ext cx="8985248" cy="971303"/>
          </a:xfrm>
          <a:custGeom>
            <a:avLst/>
            <a:gdLst>
              <a:gd name="connsiteX0" fmla="*/ 0 w 8985248"/>
              <a:gd name="connsiteY0" fmla="*/ 97130 h 971303"/>
              <a:gd name="connsiteX1" fmla="*/ 97130 w 8985248"/>
              <a:gd name="connsiteY1" fmla="*/ 0 h 971303"/>
              <a:gd name="connsiteX2" fmla="*/ 8888118 w 8985248"/>
              <a:gd name="connsiteY2" fmla="*/ 0 h 971303"/>
              <a:gd name="connsiteX3" fmla="*/ 8985248 w 8985248"/>
              <a:gd name="connsiteY3" fmla="*/ 97130 h 971303"/>
              <a:gd name="connsiteX4" fmla="*/ 8985248 w 8985248"/>
              <a:gd name="connsiteY4" fmla="*/ 874173 h 971303"/>
              <a:gd name="connsiteX5" fmla="*/ 8888118 w 8985248"/>
              <a:gd name="connsiteY5" fmla="*/ 971303 h 971303"/>
              <a:gd name="connsiteX6" fmla="*/ 97130 w 8985248"/>
              <a:gd name="connsiteY6" fmla="*/ 971303 h 971303"/>
              <a:gd name="connsiteX7" fmla="*/ 0 w 8985248"/>
              <a:gd name="connsiteY7" fmla="*/ 874173 h 971303"/>
              <a:gd name="connsiteX8" fmla="*/ 0 w 8985248"/>
              <a:gd name="connsiteY8" fmla="*/ 97130 h 971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85248" h="971303">
                <a:moveTo>
                  <a:pt x="0" y="97130"/>
                </a:moveTo>
                <a:cubicBezTo>
                  <a:pt x="0" y="43487"/>
                  <a:pt x="43487" y="0"/>
                  <a:pt x="97130" y="0"/>
                </a:cubicBezTo>
                <a:lnTo>
                  <a:pt x="8888118" y="0"/>
                </a:lnTo>
                <a:cubicBezTo>
                  <a:pt x="8941761" y="0"/>
                  <a:pt x="8985248" y="43487"/>
                  <a:pt x="8985248" y="97130"/>
                </a:cubicBezTo>
                <a:lnTo>
                  <a:pt x="8985248" y="874173"/>
                </a:lnTo>
                <a:cubicBezTo>
                  <a:pt x="8985248" y="927816"/>
                  <a:pt x="8941761" y="971303"/>
                  <a:pt x="8888118" y="971303"/>
                </a:cubicBezTo>
                <a:lnTo>
                  <a:pt x="97130" y="971303"/>
                </a:lnTo>
                <a:cubicBezTo>
                  <a:pt x="43487" y="971303"/>
                  <a:pt x="0" y="927816"/>
                  <a:pt x="0" y="874173"/>
                </a:cubicBezTo>
                <a:lnTo>
                  <a:pt x="0" y="97130"/>
                </a:lnTo>
                <a:close/>
              </a:path>
            </a:pathLst>
          </a:custGeom>
          <a:solidFill>
            <a:srgbClr val="D8CBC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66570" tIns="72390" rIns="72390" bIns="72390" numCol="1" spcCol="1270" anchor="t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ebdings" pitchFamily="18" charset="2"/>
              <a:buNone/>
            </a:pPr>
            <a:endParaRPr lang="en-US" sz="1400" kern="1200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54330" y="2448325"/>
            <a:ext cx="1797049" cy="7770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B1F65"/>
              </a:buClr>
              <a:buSzTx/>
              <a:buFont typeface="Webdings" pitchFamily="18" charset="2"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What is the business question?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457200" y="3419629"/>
            <a:ext cx="8985248" cy="971303"/>
          </a:xfrm>
          <a:custGeom>
            <a:avLst/>
            <a:gdLst>
              <a:gd name="connsiteX0" fmla="*/ 0 w 8985248"/>
              <a:gd name="connsiteY0" fmla="*/ 97130 h 971303"/>
              <a:gd name="connsiteX1" fmla="*/ 97130 w 8985248"/>
              <a:gd name="connsiteY1" fmla="*/ 0 h 971303"/>
              <a:gd name="connsiteX2" fmla="*/ 8888118 w 8985248"/>
              <a:gd name="connsiteY2" fmla="*/ 0 h 971303"/>
              <a:gd name="connsiteX3" fmla="*/ 8985248 w 8985248"/>
              <a:gd name="connsiteY3" fmla="*/ 97130 h 971303"/>
              <a:gd name="connsiteX4" fmla="*/ 8985248 w 8985248"/>
              <a:gd name="connsiteY4" fmla="*/ 874173 h 971303"/>
              <a:gd name="connsiteX5" fmla="*/ 8888118 w 8985248"/>
              <a:gd name="connsiteY5" fmla="*/ 971303 h 971303"/>
              <a:gd name="connsiteX6" fmla="*/ 97130 w 8985248"/>
              <a:gd name="connsiteY6" fmla="*/ 971303 h 971303"/>
              <a:gd name="connsiteX7" fmla="*/ 0 w 8985248"/>
              <a:gd name="connsiteY7" fmla="*/ 874173 h 971303"/>
              <a:gd name="connsiteX8" fmla="*/ 0 w 8985248"/>
              <a:gd name="connsiteY8" fmla="*/ 97130 h 971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85248" h="971303">
                <a:moveTo>
                  <a:pt x="0" y="97130"/>
                </a:moveTo>
                <a:cubicBezTo>
                  <a:pt x="0" y="43487"/>
                  <a:pt x="43487" y="0"/>
                  <a:pt x="97130" y="0"/>
                </a:cubicBezTo>
                <a:lnTo>
                  <a:pt x="8888118" y="0"/>
                </a:lnTo>
                <a:cubicBezTo>
                  <a:pt x="8941761" y="0"/>
                  <a:pt x="8985248" y="43487"/>
                  <a:pt x="8985248" y="97130"/>
                </a:cubicBezTo>
                <a:lnTo>
                  <a:pt x="8985248" y="874173"/>
                </a:lnTo>
                <a:cubicBezTo>
                  <a:pt x="8985248" y="927816"/>
                  <a:pt x="8941761" y="971303"/>
                  <a:pt x="8888118" y="971303"/>
                </a:cubicBezTo>
                <a:lnTo>
                  <a:pt x="97130" y="971303"/>
                </a:lnTo>
                <a:cubicBezTo>
                  <a:pt x="43487" y="971303"/>
                  <a:pt x="0" y="927816"/>
                  <a:pt x="0" y="874173"/>
                </a:cubicBezTo>
                <a:lnTo>
                  <a:pt x="0" y="97130"/>
                </a:lnTo>
                <a:close/>
              </a:path>
            </a:pathLst>
          </a:custGeom>
          <a:solidFill>
            <a:srgbClr val="D8CBC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66570" tIns="72390" rIns="72390" bIns="72390" numCol="1" spcCol="1270" anchor="t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ebdings" pitchFamily="18" charset="2"/>
              <a:buNone/>
            </a:pPr>
            <a:endParaRPr lang="en-US" sz="1400" kern="1200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4330" y="3516759"/>
            <a:ext cx="1797049" cy="7770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l"/>
            <a:r>
              <a:rPr lang="en-US" sz="1400" b="1" dirty="0"/>
              <a:t>What triggered the question?</a:t>
            </a:r>
          </a:p>
        </p:txBody>
      </p:sp>
      <p:sp>
        <p:nvSpPr>
          <p:cNvPr id="24" name="Freeform 23"/>
          <p:cNvSpPr/>
          <p:nvPr/>
        </p:nvSpPr>
        <p:spPr>
          <a:xfrm>
            <a:off x="457200" y="4488063"/>
            <a:ext cx="8985248" cy="971303"/>
          </a:xfrm>
          <a:custGeom>
            <a:avLst/>
            <a:gdLst>
              <a:gd name="connsiteX0" fmla="*/ 0 w 8985248"/>
              <a:gd name="connsiteY0" fmla="*/ 97130 h 971303"/>
              <a:gd name="connsiteX1" fmla="*/ 97130 w 8985248"/>
              <a:gd name="connsiteY1" fmla="*/ 0 h 971303"/>
              <a:gd name="connsiteX2" fmla="*/ 8888118 w 8985248"/>
              <a:gd name="connsiteY2" fmla="*/ 0 h 971303"/>
              <a:gd name="connsiteX3" fmla="*/ 8985248 w 8985248"/>
              <a:gd name="connsiteY3" fmla="*/ 97130 h 971303"/>
              <a:gd name="connsiteX4" fmla="*/ 8985248 w 8985248"/>
              <a:gd name="connsiteY4" fmla="*/ 874173 h 971303"/>
              <a:gd name="connsiteX5" fmla="*/ 8888118 w 8985248"/>
              <a:gd name="connsiteY5" fmla="*/ 971303 h 971303"/>
              <a:gd name="connsiteX6" fmla="*/ 97130 w 8985248"/>
              <a:gd name="connsiteY6" fmla="*/ 971303 h 971303"/>
              <a:gd name="connsiteX7" fmla="*/ 0 w 8985248"/>
              <a:gd name="connsiteY7" fmla="*/ 874173 h 971303"/>
              <a:gd name="connsiteX8" fmla="*/ 0 w 8985248"/>
              <a:gd name="connsiteY8" fmla="*/ 97130 h 971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85248" h="971303">
                <a:moveTo>
                  <a:pt x="0" y="97130"/>
                </a:moveTo>
                <a:cubicBezTo>
                  <a:pt x="0" y="43487"/>
                  <a:pt x="43487" y="0"/>
                  <a:pt x="97130" y="0"/>
                </a:cubicBezTo>
                <a:lnTo>
                  <a:pt x="8888118" y="0"/>
                </a:lnTo>
                <a:cubicBezTo>
                  <a:pt x="8941761" y="0"/>
                  <a:pt x="8985248" y="43487"/>
                  <a:pt x="8985248" y="97130"/>
                </a:cubicBezTo>
                <a:lnTo>
                  <a:pt x="8985248" y="874173"/>
                </a:lnTo>
                <a:cubicBezTo>
                  <a:pt x="8985248" y="927816"/>
                  <a:pt x="8941761" y="971303"/>
                  <a:pt x="8888118" y="971303"/>
                </a:cubicBezTo>
                <a:lnTo>
                  <a:pt x="97130" y="971303"/>
                </a:lnTo>
                <a:cubicBezTo>
                  <a:pt x="43487" y="971303"/>
                  <a:pt x="0" y="927816"/>
                  <a:pt x="0" y="874173"/>
                </a:cubicBezTo>
                <a:lnTo>
                  <a:pt x="0" y="97130"/>
                </a:lnTo>
                <a:close/>
              </a:path>
            </a:pathLst>
          </a:custGeom>
          <a:solidFill>
            <a:srgbClr val="D8CBC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66570" tIns="72390" rIns="72390" bIns="72390" numCol="1" spcCol="1270" anchor="t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ebdings" pitchFamily="18" charset="2"/>
              <a:buNone/>
            </a:pPr>
            <a:endParaRPr lang="en-US" sz="1400" kern="12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4330" y="4585193"/>
            <a:ext cx="1797049" cy="7770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B1F65"/>
              </a:buClr>
              <a:buSzTx/>
              <a:buFont typeface="Webdings" pitchFamily="18" charset="2"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What do you intend to do with the output?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457200" y="5556497"/>
            <a:ext cx="8985248" cy="971303"/>
          </a:xfrm>
          <a:custGeom>
            <a:avLst/>
            <a:gdLst>
              <a:gd name="connsiteX0" fmla="*/ 0 w 8985248"/>
              <a:gd name="connsiteY0" fmla="*/ 97130 h 971303"/>
              <a:gd name="connsiteX1" fmla="*/ 97130 w 8985248"/>
              <a:gd name="connsiteY1" fmla="*/ 0 h 971303"/>
              <a:gd name="connsiteX2" fmla="*/ 8888118 w 8985248"/>
              <a:gd name="connsiteY2" fmla="*/ 0 h 971303"/>
              <a:gd name="connsiteX3" fmla="*/ 8985248 w 8985248"/>
              <a:gd name="connsiteY3" fmla="*/ 97130 h 971303"/>
              <a:gd name="connsiteX4" fmla="*/ 8985248 w 8985248"/>
              <a:gd name="connsiteY4" fmla="*/ 874173 h 971303"/>
              <a:gd name="connsiteX5" fmla="*/ 8888118 w 8985248"/>
              <a:gd name="connsiteY5" fmla="*/ 971303 h 971303"/>
              <a:gd name="connsiteX6" fmla="*/ 97130 w 8985248"/>
              <a:gd name="connsiteY6" fmla="*/ 971303 h 971303"/>
              <a:gd name="connsiteX7" fmla="*/ 0 w 8985248"/>
              <a:gd name="connsiteY7" fmla="*/ 874173 h 971303"/>
              <a:gd name="connsiteX8" fmla="*/ 0 w 8985248"/>
              <a:gd name="connsiteY8" fmla="*/ 97130 h 971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85248" h="971303">
                <a:moveTo>
                  <a:pt x="0" y="97130"/>
                </a:moveTo>
                <a:cubicBezTo>
                  <a:pt x="0" y="43487"/>
                  <a:pt x="43487" y="0"/>
                  <a:pt x="97130" y="0"/>
                </a:cubicBezTo>
                <a:lnTo>
                  <a:pt x="8888118" y="0"/>
                </a:lnTo>
                <a:cubicBezTo>
                  <a:pt x="8941761" y="0"/>
                  <a:pt x="8985248" y="43487"/>
                  <a:pt x="8985248" y="97130"/>
                </a:cubicBezTo>
                <a:lnTo>
                  <a:pt x="8985248" y="874173"/>
                </a:lnTo>
                <a:cubicBezTo>
                  <a:pt x="8985248" y="927816"/>
                  <a:pt x="8941761" y="971303"/>
                  <a:pt x="8888118" y="971303"/>
                </a:cubicBezTo>
                <a:lnTo>
                  <a:pt x="97130" y="971303"/>
                </a:lnTo>
                <a:cubicBezTo>
                  <a:pt x="43487" y="971303"/>
                  <a:pt x="0" y="927816"/>
                  <a:pt x="0" y="874173"/>
                </a:cubicBezTo>
                <a:lnTo>
                  <a:pt x="0" y="97130"/>
                </a:lnTo>
                <a:close/>
              </a:path>
            </a:pathLst>
          </a:custGeom>
          <a:solidFill>
            <a:srgbClr val="D8CBC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66570" tIns="72390" rIns="72390" bIns="72390" numCol="1" spcCol="1270" anchor="t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ebdings" pitchFamily="18" charset="2"/>
              <a:buNone/>
            </a:pPr>
            <a:endParaRPr lang="en-US" sz="1400" kern="1200"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54330" y="5653627"/>
            <a:ext cx="1797049" cy="77704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B1F65"/>
              </a:buClr>
              <a:buSzTx/>
              <a:buFont typeface="Webdings" pitchFamily="18" charset="2"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What do you ‘expect’ as the outcomes?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2351379" y="1311212"/>
            <a:ext cx="7078369" cy="914400"/>
          </a:xfrm>
          <a:ln>
            <a:noFill/>
          </a:ln>
        </p:spPr>
        <p:txBody>
          <a:bodyPr lIns="91440" tIns="0" r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Understand who the end consumer of the request would be – in several cases, this may not be the requestor himself/herself</a:t>
            </a:r>
          </a:p>
          <a:p>
            <a:pPr lvl="1"/>
            <a:endParaRPr lang="en-US" dirty="0"/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2351379" y="2379646"/>
            <a:ext cx="7078369" cy="914400"/>
          </a:xfrm>
          <a:ln>
            <a:noFill/>
          </a:ln>
        </p:spPr>
        <p:txBody>
          <a:bodyPr lIns="91440" tIns="0" r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Understand the request in business terms and not the specific data or refresh request</a:t>
            </a:r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2351379" y="3445029"/>
            <a:ext cx="7078369" cy="914400"/>
          </a:xfrm>
          <a:ln>
            <a:noFill/>
          </a:ln>
        </p:spPr>
        <p:txBody>
          <a:bodyPr lIns="91440" tIns="0" r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Understand the factors that drove the requestor to ask this question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2351379" y="4513463"/>
            <a:ext cx="7078369" cy="914400"/>
          </a:xfrm>
          <a:ln>
            <a:noFill/>
          </a:ln>
        </p:spPr>
        <p:txBody>
          <a:bodyPr lIns="91440" tIns="0" r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Understand the consumption of this request – important to be aware since there will be a limited opportunity for re-work in such short cycles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2351379" y="5581897"/>
            <a:ext cx="7078369" cy="914400"/>
          </a:xfrm>
          <a:ln>
            <a:noFill/>
          </a:ln>
        </p:spPr>
        <p:txBody>
          <a:bodyPr lIns="91440" tIns="0" r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Understand the expected ‘takeaways’ from this request – this can be used to validate the output and also define the sniff checks that need to be defined</a:t>
            </a:r>
          </a:p>
        </p:txBody>
      </p:sp>
    </p:spTree>
    <p:extLst>
      <p:ext uri="{BB962C8B-B14F-4D97-AF65-F5344CB8AC3E}">
        <p14:creationId xmlns:p14="http://schemas.microsoft.com/office/powerpoint/2010/main" val="265335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err="1"/>
              <a:t>QFIRe</a:t>
            </a:r>
            <a:r>
              <a:rPr lang="en-US" dirty="0"/>
              <a:t> – What is the Key Takeaway from the Slide?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 userDrawn="1"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164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 userDrawn="1"/>
        </p:nvSpPr>
        <p:spPr>
          <a:xfrm>
            <a:off x="495300" y="1566331"/>
            <a:ext cx="8641080" cy="762001"/>
          </a:xfrm>
          <a:prstGeom prst="rect">
            <a:avLst/>
          </a:prstGeom>
          <a:solidFill>
            <a:srgbClr val="D8CBCB"/>
          </a:solidFill>
          <a:ln>
            <a:noFill/>
            <a:prstDash val="sysDash"/>
          </a:ln>
        </p:spPr>
        <p:txBody>
          <a:bodyPr wrap="square" tIns="182880" rtlCol="0">
            <a:noAutofit/>
          </a:bodyPr>
          <a:lstStyle/>
          <a:p>
            <a:pPr marL="0" indent="0" algn="l">
              <a:buFont typeface="Webdings" pitchFamily="18" charset="2"/>
              <a:buNone/>
            </a:pPr>
            <a:endParaRPr lang="en-US" sz="1400" dirty="0"/>
          </a:p>
        </p:txBody>
      </p:sp>
      <p:sp>
        <p:nvSpPr>
          <p:cNvPr id="33" name="TextBox 32"/>
          <p:cNvSpPr txBox="1"/>
          <p:nvPr userDrawn="1"/>
        </p:nvSpPr>
        <p:spPr>
          <a:xfrm>
            <a:off x="495300" y="2662763"/>
            <a:ext cx="4236720" cy="2523068"/>
          </a:xfrm>
          <a:prstGeom prst="rect">
            <a:avLst/>
          </a:prstGeom>
          <a:solidFill>
            <a:srgbClr val="D8CBCB"/>
          </a:solidFill>
          <a:ln>
            <a:noFill/>
            <a:prstDash val="sysDash"/>
          </a:ln>
        </p:spPr>
        <p:txBody>
          <a:bodyPr wrap="square" tIns="91440" rtlCol="0">
            <a:noAutofit/>
          </a:bodyPr>
          <a:lstStyle/>
          <a:p>
            <a:pPr marL="171450" indent="-171450" algn="l">
              <a:buFont typeface="Webdings" pitchFamily="18" charset="2"/>
              <a:buChar char="4"/>
            </a:pPr>
            <a:endParaRPr lang="en-US" sz="1400" dirty="0"/>
          </a:p>
        </p:txBody>
      </p:sp>
      <p:sp>
        <p:nvSpPr>
          <p:cNvPr id="34" name="TextBox 33"/>
          <p:cNvSpPr txBox="1"/>
          <p:nvPr userDrawn="1"/>
        </p:nvSpPr>
        <p:spPr>
          <a:xfrm>
            <a:off x="495300" y="5524500"/>
            <a:ext cx="8641080" cy="952500"/>
          </a:xfrm>
          <a:prstGeom prst="rect">
            <a:avLst/>
          </a:prstGeom>
          <a:solidFill>
            <a:srgbClr val="CBD3D3"/>
          </a:solidFill>
          <a:ln>
            <a:noFill/>
            <a:prstDash val="sysDash"/>
          </a:ln>
        </p:spPr>
        <p:txBody>
          <a:bodyPr wrap="square" tIns="91440" rtlCol="0">
            <a:noAutofit/>
          </a:bodyPr>
          <a:lstStyle/>
          <a:p>
            <a:pPr marL="171450" indent="-171450" algn="l">
              <a:buFont typeface="Webdings" pitchFamily="18" charset="2"/>
              <a:buChar char="4"/>
            </a:pPr>
            <a:endParaRPr lang="en-US" sz="1400" dirty="0"/>
          </a:p>
        </p:txBody>
      </p:sp>
      <p:sp>
        <p:nvSpPr>
          <p:cNvPr id="35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5524500"/>
            <a:ext cx="8622792" cy="952500"/>
          </a:xfrm>
          <a:ln>
            <a:noFill/>
          </a:ln>
        </p:spPr>
        <p:txBody>
          <a:bodyPr t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Recommendation 1</a:t>
            </a:r>
          </a:p>
          <a:p>
            <a:pPr lvl="1"/>
            <a:r>
              <a:rPr lang="en-US" dirty="0"/>
              <a:t>Sub-recommendation 1</a:t>
            </a:r>
          </a:p>
          <a:p>
            <a:pPr lvl="0"/>
            <a:r>
              <a:rPr lang="en-US" dirty="0"/>
              <a:t>Recommendation 2</a:t>
            </a:r>
          </a:p>
        </p:txBody>
      </p:sp>
      <p:sp>
        <p:nvSpPr>
          <p:cNvPr id="36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2662763"/>
            <a:ext cx="4236720" cy="2523067"/>
          </a:xfrm>
          <a:ln>
            <a:noFill/>
          </a:ln>
        </p:spPr>
        <p:txBody>
          <a:bodyPr t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Finding 1</a:t>
            </a:r>
          </a:p>
          <a:p>
            <a:pPr lvl="1"/>
            <a:r>
              <a:rPr lang="en-US" dirty="0"/>
              <a:t>Sub-finding 1</a:t>
            </a:r>
          </a:p>
          <a:p>
            <a:pPr lvl="1"/>
            <a:r>
              <a:rPr lang="en-US" dirty="0"/>
              <a:t>Sub-finding 2</a:t>
            </a:r>
          </a:p>
          <a:p>
            <a:pPr lvl="0"/>
            <a:r>
              <a:rPr lang="en-US" dirty="0"/>
              <a:t>Finding 2</a:t>
            </a:r>
          </a:p>
          <a:p>
            <a:pPr lvl="1"/>
            <a:r>
              <a:rPr lang="en-US" dirty="0"/>
              <a:t>Sub-finding 1</a:t>
            </a:r>
          </a:p>
          <a:p>
            <a:pPr lvl="1"/>
            <a:r>
              <a:rPr lang="en-US" dirty="0"/>
              <a:t>Sub-finding 2</a:t>
            </a:r>
          </a:p>
          <a:p>
            <a:pPr lvl="0"/>
            <a:r>
              <a:rPr lang="en-US" dirty="0"/>
              <a:t>Finding 3</a:t>
            </a:r>
          </a:p>
          <a:p>
            <a:pPr lvl="0"/>
            <a:r>
              <a:rPr lang="en-US" dirty="0"/>
              <a:t>Finding 4</a:t>
            </a:r>
          </a:p>
        </p:txBody>
      </p:sp>
      <p:sp>
        <p:nvSpPr>
          <p:cNvPr id="37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566331"/>
            <a:ext cx="8622792" cy="762001"/>
          </a:xfrm>
          <a:ln>
            <a:noFill/>
          </a:ln>
        </p:spPr>
        <p:txBody>
          <a:bodyPr t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Question</a:t>
            </a:r>
          </a:p>
          <a:p>
            <a:pPr lvl="1"/>
            <a:r>
              <a:rPr lang="en-US" dirty="0"/>
              <a:t>Sub Question</a:t>
            </a:r>
          </a:p>
        </p:txBody>
      </p:sp>
      <p:sp>
        <p:nvSpPr>
          <p:cNvPr id="38" name="Rounded Rectangle 37"/>
          <p:cNvSpPr/>
          <p:nvPr userDrawn="1"/>
        </p:nvSpPr>
        <p:spPr bwMode="auto">
          <a:xfrm>
            <a:off x="590232" y="1308100"/>
            <a:ext cx="1943100" cy="3429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Questions</a:t>
            </a:r>
          </a:p>
        </p:txBody>
      </p:sp>
      <p:sp>
        <p:nvSpPr>
          <p:cNvPr id="39" name="Rounded Rectangle 38"/>
          <p:cNvSpPr/>
          <p:nvPr userDrawn="1"/>
        </p:nvSpPr>
        <p:spPr bwMode="auto">
          <a:xfrm>
            <a:off x="590232" y="2396064"/>
            <a:ext cx="1943100" cy="3429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bg1"/>
                </a:solidFill>
              </a:rPr>
              <a:t>Findings</a:t>
            </a:r>
            <a:endParaRPr lang="en-US" sz="1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Rounded Rectangle 39"/>
          <p:cNvSpPr/>
          <p:nvPr userDrawn="1"/>
        </p:nvSpPr>
        <p:spPr bwMode="auto">
          <a:xfrm>
            <a:off x="590232" y="5245100"/>
            <a:ext cx="1943100" cy="342900"/>
          </a:xfrm>
          <a:prstGeom prst="round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bg1"/>
                </a:solidFill>
              </a:rPr>
              <a:t>Recommendations</a:t>
            </a:r>
            <a:endParaRPr lang="en-US" sz="1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4894580" y="2662763"/>
            <a:ext cx="4236720" cy="2523068"/>
          </a:xfrm>
          <a:prstGeom prst="rect">
            <a:avLst/>
          </a:prstGeom>
          <a:solidFill>
            <a:srgbClr val="D8CBCB"/>
          </a:solidFill>
          <a:ln>
            <a:noFill/>
            <a:prstDash val="sysDash"/>
          </a:ln>
        </p:spPr>
        <p:txBody>
          <a:bodyPr wrap="square" tIns="91440" rtlCol="0">
            <a:noAutofit/>
          </a:bodyPr>
          <a:lstStyle/>
          <a:p>
            <a:pPr marL="171450" indent="-171450" algn="l">
              <a:buFont typeface="Webdings" pitchFamily="18" charset="2"/>
              <a:buChar char="4"/>
            </a:pPr>
            <a:endParaRPr lang="en-US" sz="1400" dirty="0"/>
          </a:p>
        </p:txBody>
      </p:sp>
      <p:sp>
        <p:nvSpPr>
          <p:cNvPr id="42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4894580" y="2662763"/>
            <a:ext cx="4236720" cy="2523067"/>
          </a:xfrm>
          <a:ln>
            <a:noFill/>
          </a:ln>
        </p:spPr>
        <p:txBody>
          <a:bodyPr t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Insight 1</a:t>
            </a:r>
          </a:p>
          <a:p>
            <a:pPr lvl="1"/>
            <a:r>
              <a:rPr lang="en-US" dirty="0"/>
              <a:t>Sub-insight</a:t>
            </a:r>
          </a:p>
          <a:p>
            <a:pPr lvl="1"/>
            <a:r>
              <a:rPr lang="en-US" dirty="0"/>
              <a:t>Sub-insight</a:t>
            </a:r>
          </a:p>
          <a:p>
            <a:pPr lvl="0"/>
            <a:r>
              <a:rPr lang="en-US" dirty="0"/>
              <a:t>Insight 2</a:t>
            </a:r>
          </a:p>
          <a:p>
            <a:pPr lvl="0"/>
            <a:r>
              <a:rPr lang="en-US" dirty="0"/>
              <a:t>Insight 3</a:t>
            </a:r>
          </a:p>
          <a:p>
            <a:pPr lvl="0"/>
            <a:r>
              <a:rPr lang="en-US" dirty="0"/>
              <a:t>Insight 4</a:t>
            </a:r>
          </a:p>
        </p:txBody>
      </p:sp>
      <p:sp>
        <p:nvSpPr>
          <p:cNvPr id="43" name="Rounded Rectangle 42"/>
          <p:cNvSpPr/>
          <p:nvPr userDrawn="1"/>
        </p:nvSpPr>
        <p:spPr bwMode="auto">
          <a:xfrm>
            <a:off x="4989512" y="2396064"/>
            <a:ext cx="1943100" cy="3429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2355875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err="1"/>
              <a:t>FIRe</a:t>
            </a:r>
            <a:r>
              <a:rPr lang="en-US" dirty="0"/>
              <a:t> – What is the Key Takeaway from the Slide?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 userDrawn="1"/>
        </p:nvGraphicFramePr>
        <p:xfrm>
          <a:off x="9247188" y="76200"/>
          <a:ext cx="5937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188" r:id="rId3" imgW="971686" imgH="895238" progId="PBrush">
                  <p:embed/>
                </p:oleObj>
              </mc:Choice>
              <mc:Fallback>
                <p:oleObj r:id="rId3" imgW="971686" imgH="89523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8" y="76200"/>
                        <a:ext cx="5937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 userDrawn="1"/>
        </p:nvSpPr>
        <p:spPr>
          <a:xfrm>
            <a:off x="495300" y="1646763"/>
            <a:ext cx="4236720" cy="3001438"/>
          </a:xfrm>
          <a:prstGeom prst="rect">
            <a:avLst/>
          </a:prstGeom>
          <a:solidFill>
            <a:srgbClr val="D8CBCB"/>
          </a:solidFill>
          <a:ln>
            <a:noFill/>
            <a:prstDash val="sysDash"/>
          </a:ln>
        </p:spPr>
        <p:txBody>
          <a:bodyPr wrap="square" tIns="91440" rtlCol="0">
            <a:noAutofit/>
          </a:bodyPr>
          <a:lstStyle/>
          <a:p>
            <a:pPr marL="171450" indent="-171450" algn="l">
              <a:buFont typeface="Webdings" pitchFamily="18" charset="2"/>
              <a:buChar char="4"/>
            </a:pPr>
            <a:endParaRPr lang="en-US" sz="1400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495300" y="5067300"/>
            <a:ext cx="8641080" cy="1384300"/>
          </a:xfrm>
          <a:prstGeom prst="rect">
            <a:avLst/>
          </a:prstGeom>
          <a:solidFill>
            <a:srgbClr val="CBD3D3"/>
          </a:solidFill>
          <a:ln>
            <a:noFill/>
            <a:prstDash val="sysDash"/>
          </a:ln>
        </p:spPr>
        <p:txBody>
          <a:bodyPr wrap="square" tIns="91440" rtlCol="0">
            <a:noAutofit/>
          </a:bodyPr>
          <a:lstStyle/>
          <a:p>
            <a:pPr marL="171450" indent="-171450" algn="l">
              <a:buFont typeface="Webdings" pitchFamily="18" charset="2"/>
              <a:buChar char="4"/>
            </a:pPr>
            <a:endParaRPr lang="en-US" sz="1400" dirty="0"/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5067300"/>
            <a:ext cx="8622792" cy="1384300"/>
          </a:xfrm>
          <a:ln>
            <a:noFill/>
          </a:ln>
        </p:spPr>
        <p:txBody>
          <a:bodyPr t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Recommendation 1</a:t>
            </a:r>
          </a:p>
          <a:p>
            <a:pPr lvl="1"/>
            <a:r>
              <a:rPr lang="en-US" dirty="0"/>
              <a:t>Sub-recommendation 1</a:t>
            </a:r>
          </a:p>
          <a:p>
            <a:pPr lvl="0"/>
            <a:r>
              <a:rPr lang="en-US" dirty="0"/>
              <a:t>Recommendation 2</a:t>
            </a: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1646763"/>
            <a:ext cx="4236720" cy="3001437"/>
          </a:xfrm>
          <a:ln>
            <a:noFill/>
          </a:ln>
        </p:spPr>
        <p:txBody>
          <a:bodyPr t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 baseline="0"/>
            </a:lvl2pPr>
          </a:lstStyle>
          <a:p>
            <a:pPr lvl="0"/>
            <a:r>
              <a:rPr lang="en-US" dirty="0"/>
              <a:t>Finding 1</a:t>
            </a:r>
          </a:p>
          <a:p>
            <a:pPr lvl="1"/>
            <a:r>
              <a:rPr lang="en-US" dirty="0"/>
              <a:t>Sub-finding 1</a:t>
            </a:r>
          </a:p>
          <a:p>
            <a:pPr lvl="1"/>
            <a:r>
              <a:rPr lang="en-US" dirty="0"/>
              <a:t>Sub-finding 2</a:t>
            </a:r>
          </a:p>
          <a:p>
            <a:pPr lvl="0"/>
            <a:r>
              <a:rPr lang="en-US" dirty="0"/>
              <a:t>Finding 2</a:t>
            </a:r>
          </a:p>
          <a:p>
            <a:pPr lvl="1"/>
            <a:r>
              <a:rPr lang="en-US" dirty="0"/>
              <a:t>Sub-finding 1</a:t>
            </a:r>
          </a:p>
          <a:p>
            <a:pPr lvl="1"/>
            <a:r>
              <a:rPr lang="en-US" dirty="0"/>
              <a:t>Sub-finding 2</a:t>
            </a:r>
          </a:p>
          <a:p>
            <a:pPr lvl="0"/>
            <a:r>
              <a:rPr lang="en-US" dirty="0"/>
              <a:t>Finding 3</a:t>
            </a:r>
          </a:p>
          <a:p>
            <a:pPr lvl="0"/>
            <a:r>
              <a:rPr lang="en-US" dirty="0"/>
              <a:t>Finding 4</a:t>
            </a:r>
          </a:p>
        </p:txBody>
      </p:sp>
      <p:sp>
        <p:nvSpPr>
          <p:cNvPr id="20" name="Rounded Rectangle 19"/>
          <p:cNvSpPr/>
          <p:nvPr userDrawn="1"/>
        </p:nvSpPr>
        <p:spPr bwMode="auto">
          <a:xfrm>
            <a:off x="590232" y="1380064"/>
            <a:ext cx="1943100" cy="3429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bg1"/>
                </a:solidFill>
              </a:rPr>
              <a:t>Findings</a:t>
            </a:r>
            <a:endParaRPr lang="en-US" sz="1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 userDrawn="1"/>
        </p:nvSpPr>
        <p:spPr bwMode="auto">
          <a:xfrm>
            <a:off x="590232" y="4787900"/>
            <a:ext cx="1943100" cy="342900"/>
          </a:xfrm>
          <a:prstGeom prst="round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bg1"/>
                </a:solidFill>
              </a:rPr>
              <a:t>Recommendations</a:t>
            </a:r>
            <a:endParaRPr lang="en-US" sz="1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4894580" y="1646763"/>
            <a:ext cx="4236720" cy="3001438"/>
          </a:xfrm>
          <a:prstGeom prst="rect">
            <a:avLst/>
          </a:prstGeom>
          <a:solidFill>
            <a:srgbClr val="D8CBCB"/>
          </a:solidFill>
          <a:ln>
            <a:noFill/>
            <a:prstDash val="sysDash"/>
          </a:ln>
        </p:spPr>
        <p:txBody>
          <a:bodyPr wrap="square" tIns="91440" rtlCol="0">
            <a:noAutofit/>
          </a:bodyPr>
          <a:lstStyle/>
          <a:p>
            <a:pPr marL="171450" indent="-171450" algn="l">
              <a:buFont typeface="Webdings" pitchFamily="18" charset="2"/>
              <a:buChar char="4"/>
            </a:pPr>
            <a:endParaRPr lang="en-US" sz="1400" dirty="0"/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4894580" y="1646763"/>
            <a:ext cx="4236720" cy="3001437"/>
          </a:xfrm>
          <a:ln>
            <a:noFill/>
          </a:ln>
        </p:spPr>
        <p:txBody>
          <a:bodyPr tIns="91440"/>
          <a:lstStyle>
            <a:lvl1pPr>
              <a:spcBef>
                <a:spcPts val="600"/>
              </a:spcBef>
              <a:defRPr sz="1400" baseline="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</a:lstStyle>
          <a:p>
            <a:pPr lvl="0"/>
            <a:r>
              <a:rPr lang="en-US" dirty="0"/>
              <a:t>Insight 1</a:t>
            </a:r>
          </a:p>
          <a:p>
            <a:pPr lvl="1"/>
            <a:r>
              <a:rPr lang="en-US" dirty="0"/>
              <a:t>Sub-insight</a:t>
            </a:r>
          </a:p>
          <a:p>
            <a:pPr lvl="1"/>
            <a:r>
              <a:rPr lang="en-US" dirty="0"/>
              <a:t>Sub-insight</a:t>
            </a:r>
          </a:p>
          <a:p>
            <a:pPr lvl="0"/>
            <a:r>
              <a:rPr lang="en-US" dirty="0"/>
              <a:t>Insight 2</a:t>
            </a:r>
          </a:p>
          <a:p>
            <a:pPr lvl="0"/>
            <a:r>
              <a:rPr lang="en-US" dirty="0"/>
              <a:t>Insight 3</a:t>
            </a:r>
          </a:p>
          <a:p>
            <a:pPr lvl="0"/>
            <a:r>
              <a:rPr lang="en-US" dirty="0"/>
              <a:t>Insight 4</a:t>
            </a:r>
          </a:p>
        </p:txBody>
      </p:sp>
      <p:sp>
        <p:nvSpPr>
          <p:cNvPr id="24" name="Rounded Rectangle 23"/>
          <p:cNvSpPr/>
          <p:nvPr userDrawn="1"/>
        </p:nvSpPr>
        <p:spPr bwMode="auto">
          <a:xfrm>
            <a:off x="4989512" y="1380064"/>
            <a:ext cx="1943100" cy="342900"/>
          </a:xfrm>
          <a:prstGeom prst="round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380978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6113" y="1381125"/>
            <a:ext cx="8763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Supporting Points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98525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What is the Key Takeaway from the Slide?</a:t>
            </a:r>
          </a:p>
        </p:txBody>
      </p:sp>
      <p:sp>
        <p:nvSpPr>
          <p:cNvPr id="597103" name="Rectangle 111"/>
          <p:cNvSpPr>
            <a:spLocks noChangeArrowheads="1"/>
          </p:cNvSpPr>
          <p:nvPr/>
        </p:nvSpPr>
        <p:spPr bwMode="auto">
          <a:xfrm>
            <a:off x="4437063" y="2957513"/>
            <a:ext cx="99028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endParaRPr lang="en-US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07496" y="6492240"/>
            <a:ext cx="18755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>
              <a:spcBef>
                <a:spcPct val="0"/>
              </a:spcBef>
              <a:buClrTx/>
              <a:buFontTx/>
              <a:buNone/>
            </a:pPr>
            <a:fld id="{2B114154-8EFE-4493-ABC9-427AC67F52E5}" type="slidenum">
              <a:rPr lang="en-US" sz="1200"/>
              <a:pPr algn="r"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82880" y="6492240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 Sigma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2" r:id="rId2"/>
    <p:sldLayoutId id="2147483761" r:id="rId3"/>
    <p:sldLayoutId id="2147483766" r:id="rId4"/>
    <p:sldLayoutId id="2147483763" r:id="rId5"/>
    <p:sldLayoutId id="2147483764" r:id="rId6"/>
    <p:sldLayoutId id="2147483765" r:id="rId7"/>
    <p:sldLayoutId id="2147483768" r:id="rId8"/>
    <p:sldLayoutId id="2147483769" r:id="rId9"/>
    <p:sldLayoutId id="2147483779" r:id="rId10"/>
    <p:sldLayoutId id="2147483780" r:id="rId11"/>
    <p:sldLayoutId id="2147483781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9pPr>
    </p:titleStyle>
    <p:bodyStyle>
      <a:lvl1pPr marL="234950" indent="-234950" algn="l" rtl="0" eaLnBrk="1" fontAlgn="base" hangingPunct="1">
        <a:spcBef>
          <a:spcPct val="100000"/>
        </a:spcBef>
        <a:spcAft>
          <a:spcPct val="0"/>
        </a:spcAft>
        <a:buClr>
          <a:srgbClr val="003399"/>
        </a:buClr>
        <a:buFont typeface="Webdings" pitchFamily="18" charset="2"/>
        <a:buChar char="4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0663" algn="l" rtl="0" eaLnBrk="1" fontAlgn="base" hangingPunct="1">
        <a:lnSpc>
          <a:spcPct val="90000"/>
        </a:lnSpc>
        <a:spcBef>
          <a:spcPct val="40000"/>
        </a:spcBef>
        <a:spcAft>
          <a:spcPct val="0"/>
        </a:spcAft>
        <a:buClr>
          <a:srgbClr val="003399"/>
        </a:buClr>
        <a:buFont typeface="Arial" pitchFamily="34" charset="0"/>
        <a:buChar char="–"/>
        <a:defRPr sz="1400">
          <a:solidFill>
            <a:schemeClr val="tx1"/>
          </a:solidFill>
          <a:latin typeface="+mn-lt"/>
        </a:defRPr>
      </a:lvl2pPr>
      <a:lvl3pPr marL="623888" indent="-160338" algn="l" rtl="0" eaLnBrk="1" fontAlgn="base" hangingPunct="1">
        <a:lnSpc>
          <a:spcPct val="90000"/>
        </a:lnSpc>
        <a:spcBef>
          <a:spcPct val="40000"/>
        </a:spcBef>
        <a:spcAft>
          <a:spcPct val="0"/>
        </a:spcAft>
        <a:buClr>
          <a:srgbClr val="003399"/>
        </a:buClr>
        <a:buFont typeface="Arial" pitchFamily="34" charset="0"/>
        <a:buChar char="»"/>
        <a:defRPr sz="1300" baseline="0">
          <a:solidFill>
            <a:schemeClr val="tx1"/>
          </a:solidFill>
          <a:latin typeface="+mn-lt"/>
        </a:defRPr>
      </a:lvl3pPr>
      <a:lvl4pPr marL="855663" indent="-173038" algn="l" rtl="0" eaLnBrk="1" fontAlgn="base" hangingPunct="1">
        <a:lnSpc>
          <a:spcPct val="90000"/>
        </a:lnSpc>
        <a:spcBef>
          <a:spcPct val="40000"/>
        </a:spcBef>
        <a:spcAft>
          <a:spcPct val="0"/>
        </a:spcAft>
        <a:buClr>
          <a:srgbClr val="003399"/>
        </a:buClr>
        <a:buFont typeface="Arial" pitchFamily="34" charset="0"/>
        <a:buChar char="•"/>
        <a:defRPr sz="1200">
          <a:solidFill>
            <a:schemeClr val="tx1"/>
          </a:solidFill>
          <a:latin typeface="+mn-lt"/>
        </a:defRPr>
      </a:lvl4pPr>
      <a:lvl5pPr marL="1030288" indent="-115888" algn="l" rtl="0" eaLnBrk="1" fontAlgn="base" hangingPunct="1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pitchFamily="34" charset="0"/>
        <a:buChar char="»"/>
        <a:defRPr sz="1200" baseline="0">
          <a:solidFill>
            <a:schemeClr val="tx1"/>
          </a:solidFill>
          <a:latin typeface="+mn-lt"/>
        </a:defRPr>
      </a:lvl5pPr>
      <a:lvl6pPr marL="2974975" algn="l" rtl="0" eaLnBrk="1" fontAlgn="base" hangingPunct="1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6pPr>
      <a:lvl7pPr marL="3432175" algn="l" rtl="0" eaLnBrk="1" fontAlgn="base" hangingPunct="1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7pPr>
      <a:lvl8pPr marL="3889375" algn="l" rtl="0" eaLnBrk="1" fontAlgn="base" hangingPunct="1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8pPr>
      <a:lvl9pPr marL="4346575" algn="l" rtl="0" eaLnBrk="1" fontAlgn="base" hangingPunct="1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Chevrons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March </a:t>
            </a:r>
            <a:r>
              <a:rPr lang="en-US" dirty="0"/>
              <a:t>2017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CPG</a:t>
            </a:r>
          </a:p>
        </p:txBody>
      </p:sp>
    </p:spTree>
    <p:extLst>
      <p:ext uri="{BB962C8B-B14F-4D97-AF65-F5344CB8AC3E}">
        <p14:creationId xmlns:p14="http://schemas.microsoft.com/office/powerpoint/2010/main" val="345778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 39"/>
          <p:cNvGraphicFramePr>
            <a:graphicFrameLocks noGrp="1"/>
          </p:cNvGraphicFramePr>
          <p:nvPr>
            <p:extLst/>
          </p:nvPr>
        </p:nvGraphicFramePr>
        <p:xfrm>
          <a:off x="101321" y="990600"/>
          <a:ext cx="9700182" cy="548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691">
                  <a:extLst>
                    <a:ext uri="{9D8B030D-6E8A-4147-A177-3AD203B41FA5}">
                      <a16:colId xmlns:a16="http://schemas.microsoft.com/office/drawing/2014/main" val="4270927772"/>
                    </a:ext>
                  </a:extLst>
                </a:gridCol>
                <a:gridCol w="1583703">
                  <a:extLst>
                    <a:ext uri="{9D8B030D-6E8A-4147-A177-3AD203B41FA5}">
                      <a16:colId xmlns:a16="http://schemas.microsoft.com/office/drawing/2014/main" val="2931048526"/>
                    </a:ext>
                  </a:extLst>
                </a:gridCol>
                <a:gridCol w="1464297">
                  <a:extLst>
                    <a:ext uri="{9D8B030D-6E8A-4147-A177-3AD203B41FA5}">
                      <a16:colId xmlns:a16="http://schemas.microsoft.com/office/drawing/2014/main" val="3334750638"/>
                    </a:ext>
                  </a:extLst>
                </a:gridCol>
                <a:gridCol w="1769097">
                  <a:extLst>
                    <a:ext uri="{9D8B030D-6E8A-4147-A177-3AD203B41FA5}">
                      <a16:colId xmlns:a16="http://schemas.microsoft.com/office/drawing/2014/main" val="4177026366"/>
                    </a:ext>
                  </a:extLst>
                </a:gridCol>
                <a:gridCol w="1616697">
                  <a:extLst>
                    <a:ext uri="{9D8B030D-6E8A-4147-A177-3AD203B41FA5}">
                      <a16:colId xmlns:a16="http://schemas.microsoft.com/office/drawing/2014/main" val="3917489214"/>
                    </a:ext>
                  </a:extLst>
                </a:gridCol>
                <a:gridCol w="1616697">
                  <a:extLst>
                    <a:ext uri="{9D8B030D-6E8A-4147-A177-3AD203B41FA5}">
                      <a16:colId xmlns:a16="http://schemas.microsoft.com/office/drawing/2014/main" val="1764579908"/>
                    </a:ext>
                  </a:extLst>
                </a:gridCol>
              </a:tblGrid>
              <a:tr h="5486400"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6277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06277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Concept testing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Choice modelling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Test marketing strategy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06277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Product portfolio analysis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Assortment optimization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6277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06277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Geographic market assessment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Market opportunity assessment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Market segmentation</a:t>
                      </a:r>
                    </a:p>
                  </a:txBody>
                  <a:tcPr>
                    <a:lnL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75151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97515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Sales forecasting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75151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97515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Inventory planning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75151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97515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Scheduling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Freight planning 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Sourcing optimization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75151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97515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Sourcing strategy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Supplier evaluation and risk assessment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Supplier performance analysis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75151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97515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Financial planning &amp; analysis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75151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97515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Commodity purchase &amp; price forecasting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75151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97515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budgeting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5757FF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6464E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Distribution &amp; logistics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Labor planning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Material handling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Outbound route optimization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SKU velocity study and optimization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5757FF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6464E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Supply chain  management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Network design and optimization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Inventory planning and policy setting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Replenishment management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Demand forecasting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Reverse Logistics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Supply Chain Visibility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5757FF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6464E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Transportation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Fleet management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Spend analysis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Scheduling and load optimization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Asset utilization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5757FF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6464E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Production management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Schedule optimization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Cycle time optimization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15C5CC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15C5CC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Category management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Profitability analysis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Lifecycle &amp; innovation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6277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15C5CC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Pricing analytics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Pricing strategy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Price elasticity</a:t>
                      </a:r>
                      <a:endParaRPr kumimoji="0" lang="en-US" sz="900" b="1" i="0" u="none" strike="noStrike" kern="1200" cap="all" spc="0" normalizeH="0" baseline="0" noProof="0" dirty="0">
                        <a:ln>
                          <a:noFill/>
                        </a:ln>
                        <a:solidFill>
                          <a:srgbClr val="15C5CC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15C5CC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15C5CC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Trade promotion optimization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Promotion planning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Lift and decomposition analysis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Event library </a:t>
                      </a:r>
                      <a:endParaRPr kumimoji="0" lang="en-US" sz="900" b="0" i="0" u="none" strike="noStrike" kern="1200" cap="none" spc="0" normalizeH="0" baseline="0" noProof="0" dirty="0">
                        <a:ln w="0"/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15C5CC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15C5CC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Measurement</a:t>
                      </a:r>
                    </a:p>
                    <a:p>
                      <a:pPr marL="228600" marR="0" lvl="2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Test &amp; learn</a:t>
                      </a:r>
                    </a:p>
                    <a:p>
                      <a:pPr marL="228600" marR="0" lvl="2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Financial Reporting</a:t>
                      </a:r>
                    </a:p>
                    <a:p>
                      <a:pPr marL="228600" marR="0" lvl="2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Effectiveness of initiatives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43434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Brand analytics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Brand vitality studies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43434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Marketing optimization</a:t>
                      </a:r>
                    </a:p>
                    <a:p>
                      <a:pPr marL="228600" marR="0" lvl="2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Segoe UI" panose="020B0502040204020203" pitchFamily="34" charset="0"/>
                          <a:cs typeface="Arial" pitchFamily="34" charset="0"/>
                        </a:rPr>
                        <a:t>Marketing mix modeling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43434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Media planning &amp; execution</a:t>
                      </a:r>
                    </a:p>
                    <a:p>
                      <a:pPr marL="228600" marR="0" lvl="2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Segoe UI" panose="020B0502040204020203" pitchFamily="34" charset="0"/>
                          <a:cs typeface="Arial" pitchFamily="34" charset="0"/>
                        </a:rPr>
                        <a:t>Media mix modeling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43434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Execution analytics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Arial" panose="020B0604020202020204" pitchFamily="34" charset="0"/>
                        <a:buChar char="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Segoe UI" panose="020B0502040204020203" pitchFamily="34" charset="0"/>
                          <a:cs typeface="Arial" pitchFamily="34" charset="0"/>
                        </a:rPr>
                        <a:t>Execution reporting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Arial" panose="020B0604020202020204" pitchFamily="34" charset="0"/>
                        <a:buChar char="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Segoe UI" panose="020B0502040204020203" pitchFamily="34" charset="0"/>
                          <a:cs typeface="Arial" pitchFamily="34" charset="0"/>
                        </a:rPr>
                        <a:t>Execution driver analysis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43434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Ecommerce &amp; site analytics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Funnel analysis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AB testing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Navigation, search &amp; product placement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Online consumer engagement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434344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43434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Mobile commerce &amp; app performance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57979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357979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Loyalty 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Design &amp; administration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Retention and churn analytics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57979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357979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Consumer behavior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Segmentation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Generational cohorts analysis</a:t>
                      </a:r>
                    </a:p>
                    <a:p>
                      <a:pPr marL="171450" marR="0" lvl="2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357979"/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900" b="1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357979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Voice of customer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Survey analytics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Social listening and engagement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93553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 bwMode="auto">
          <a:xfrm>
            <a:off x="101321" y="533400"/>
            <a:ext cx="1463040" cy="457200"/>
          </a:xfrm>
          <a:prstGeom prst="roundRect">
            <a:avLst/>
          </a:prstGeom>
          <a:solidFill>
            <a:srgbClr val="00627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R="0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tabLst/>
            </a:pPr>
            <a:r>
              <a:rPr lang="en-US" sz="10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Product Design &amp; Development</a:t>
            </a:r>
          </a:p>
        </p:txBody>
      </p:sp>
      <p:sp>
        <p:nvSpPr>
          <p:cNvPr id="58" name="Rounded Rectangle 57"/>
          <p:cNvSpPr/>
          <p:nvPr/>
        </p:nvSpPr>
        <p:spPr bwMode="auto">
          <a:xfrm>
            <a:off x="1748749" y="533400"/>
            <a:ext cx="1463040" cy="457200"/>
          </a:xfrm>
          <a:prstGeom prst="roundRect">
            <a:avLst/>
          </a:prstGeom>
          <a:solidFill>
            <a:srgbClr val="9751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z="1000" b="1" dirty="0">
                <a:ln w="0"/>
                <a:solidFill>
                  <a:prstClr val="white"/>
                </a:solidFill>
                <a:latin typeface="Arial" charset="0"/>
                <a:cs typeface="Times New Roman" pitchFamily="18" charset="0"/>
              </a:rPr>
              <a:t>Planning &amp; Procurement</a:t>
            </a:r>
            <a:endParaRPr lang="en-US" sz="1000" b="1" dirty="0">
              <a:ln w="0"/>
              <a:solidFill>
                <a:prstClr val="white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cs typeface="Times New Roman" pitchFamily="18" charset="0"/>
            </a:endParaRPr>
          </a:p>
        </p:txBody>
      </p:sp>
      <p:sp>
        <p:nvSpPr>
          <p:cNvPr id="59" name="Rounded Rectangle 58"/>
          <p:cNvSpPr/>
          <p:nvPr/>
        </p:nvSpPr>
        <p:spPr bwMode="auto">
          <a:xfrm>
            <a:off x="3396177" y="533400"/>
            <a:ext cx="1463040" cy="457200"/>
          </a:xfrm>
          <a:prstGeom prst="roundRect">
            <a:avLst/>
          </a:prstGeom>
          <a:solidFill>
            <a:srgbClr val="6464E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z="1000" b="1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Times New Roman" pitchFamily="18" charset="0"/>
              </a:rPr>
              <a:t>Manufacturing, Distribution &amp; Logistics</a:t>
            </a:r>
          </a:p>
        </p:txBody>
      </p:sp>
      <p:sp>
        <p:nvSpPr>
          <p:cNvPr id="60" name="Rounded Rectangle 59"/>
          <p:cNvSpPr/>
          <p:nvPr/>
        </p:nvSpPr>
        <p:spPr bwMode="auto">
          <a:xfrm>
            <a:off x="5043605" y="533400"/>
            <a:ext cx="1463040" cy="457200"/>
          </a:xfrm>
          <a:prstGeom prst="roundRect">
            <a:avLst/>
          </a:prstGeom>
          <a:solidFill>
            <a:srgbClr val="15C5C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z="1000" b="1" dirty="0">
                <a:ln w="0"/>
                <a:solidFill>
                  <a:prstClr val="white"/>
                </a:solidFill>
                <a:latin typeface="Arial" charset="0"/>
                <a:cs typeface="Times New Roman" pitchFamily="18" charset="0"/>
              </a:rPr>
              <a:t>Revenue Growth Management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91033" y="533400"/>
            <a:ext cx="1463040" cy="457200"/>
          </a:xfrm>
          <a:prstGeom prst="roundRect">
            <a:avLst/>
          </a:prstGeom>
          <a:solidFill>
            <a:srgbClr val="434344"/>
          </a:solidFill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1000" b="1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</a:rPr>
              <a:t>Sales &amp; Marketing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8228012" y="533400"/>
            <a:ext cx="1463040" cy="457200"/>
          </a:xfrm>
          <a:prstGeom prst="roundRect">
            <a:avLst/>
          </a:prstGeom>
          <a:solidFill>
            <a:srgbClr val="35797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000" b="1" dirty="0">
                <a:ln w="0"/>
                <a:solidFill>
                  <a:schemeClr val="bg1"/>
                </a:solidFill>
              </a:rPr>
              <a:t>Consumer Insights </a:t>
            </a:r>
            <a:endParaRPr lang="en-US" sz="1000" b="1" dirty="0">
              <a:ln w="0"/>
              <a:solidFill>
                <a:prstClr val="white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Arial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587" y="0"/>
            <a:ext cx="1371600" cy="2308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900" b="1" i="1">
                <a:solidFill>
                  <a:schemeClr val="bg1">
                    <a:lumMod val="50000"/>
                  </a:schemeClr>
                </a:solidFill>
              </a:rPr>
              <a:t>CPG</a:t>
            </a:r>
            <a:endParaRPr lang="en-US" sz="9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2069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Custom 17">
      <a:dk1>
        <a:srgbClr val="000000"/>
      </a:dk1>
      <a:lt1>
        <a:sysClr val="window" lastClr="FFFFFF"/>
      </a:lt1>
      <a:dk2>
        <a:srgbClr val="FF0000"/>
      </a:dk2>
      <a:lt2>
        <a:srgbClr val="00FF00"/>
      </a:lt2>
      <a:accent1>
        <a:srgbClr val="800000"/>
      </a:accent1>
      <a:accent2>
        <a:srgbClr val="006666"/>
      </a:accent2>
      <a:accent3>
        <a:srgbClr val="E2E1C0"/>
      </a:accent3>
      <a:accent4>
        <a:srgbClr val="0000FF"/>
      </a:accent4>
      <a:accent5>
        <a:srgbClr val="B69404"/>
      </a:accent5>
      <a:accent6>
        <a:srgbClr val="FFFF00"/>
      </a:accent6>
      <a:hlink>
        <a:srgbClr val="0000FF"/>
      </a:hlink>
      <a:folHlink>
        <a:srgbClr val="800080"/>
      </a:folHlink>
    </a:clrScheme>
    <a:fontScheme name="Global Sourcing KickoffSection 4-Project Approach v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none" lIns="45720" tIns="45720" rIns="45720" bIns="45720" numCol="1" rtlCol="0" anchor="ctr" anchorCtr="0" compatLnSpc="1">
        <a:prstTxWarp prst="textNoShape">
          <a:avLst/>
        </a:prstTxWarp>
      </a:bodyPr>
      <a:lstStyle>
        <a:defPPr marL="234950" marR="0" indent="-234950" algn="l" defTabSz="914400" rtl="0" eaLnBrk="1" fontAlgn="base" latinLnBrk="0" hangingPunct="1">
          <a:lnSpc>
            <a:spcPct val="100000"/>
          </a:lnSpc>
          <a:spcBef>
            <a:spcPct val="100000"/>
          </a:spcBef>
          <a:spcAft>
            <a:spcPct val="0"/>
          </a:spcAft>
          <a:buClrTx/>
          <a:buSzTx/>
          <a:buFont typeface="Webdings" pitchFamily="18" charset="2"/>
          <a:buChar char="4"/>
          <a:tabLst/>
          <a:defRPr sz="1600" b="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pattFill prst="pct50">
          <a:fgClr>
            <a:schemeClr val="hlink"/>
          </a:fgClr>
          <a:bgClr>
            <a:srgbClr val="FFFFFF"/>
          </a:bgClr>
        </a:pattFill>
        <a:ln w="9525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</a:bodyPr>
      <a:lstStyle>
        <a:defPPr marL="234950" marR="0" indent="-234950" algn="ctr" defTabSz="914400" rtl="0" eaLnBrk="0" fontAlgn="base" latinLnBrk="0" hangingPunct="0">
          <a:lnSpc>
            <a:spcPct val="100000"/>
          </a:lnSpc>
          <a:spcBef>
            <a:spcPct val="10000"/>
          </a:spcBef>
          <a:spcAft>
            <a:spcPct val="0"/>
          </a:spcAft>
          <a:buClr>
            <a:srgbClr val="0B1F65"/>
          </a:buClr>
          <a:buSzTx/>
          <a:buFont typeface="Webdings" pitchFamily="18" charset="2"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lnDef>
  </a:objectDefaults>
  <a:extraClrSchemeLst>
    <a:extraClrScheme>
      <a:clrScheme name="Global Sourcing KickoffSection 4-Project Approach v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Sourcing KickoffSection 4-Project Approach v5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Sourcing KickoffSection 4-Project Approach v5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Sourcing KickoffSection 4-Project Approach v5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Sourcing KickoffSection 4-Project Approach v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Sourcing KickoffSection 4-Project Approach v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Sourcing KickoffSection 4-Project Approach v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Sourcing KickoffSection 4-Project Approach v5 8">
        <a:dk1>
          <a:srgbClr val="000000"/>
        </a:dk1>
        <a:lt1>
          <a:srgbClr val="FFFFFF"/>
        </a:lt1>
        <a:dk2>
          <a:srgbClr val="B69404"/>
        </a:dk2>
        <a:lt2>
          <a:srgbClr val="C0C0C0"/>
        </a:lt2>
        <a:accent1>
          <a:srgbClr val="0000FF"/>
        </a:accent1>
        <a:accent2>
          <a:srgbClr val="E2E1C0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CDCCAE"/>
        </a:accent6>
        <a:hlink>
          <a:srgbClr val="3D97AF"/>
        </a:hlink>
        <a:folHlink>
          <a:srgbClr val="B72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B69404"/>
      </a:dk2>
      <a:lt2>
        <a:srgbClr val="C0C0C0"/>
      </a:lt2>
      <a:accent1>
        <a:srgbClr val="0000FF"/>
      </a:accent1>
      <a:accent2>
        <a:srgbClr val="E2E1C0"/>
      </a:accent2>
      <a:accent3>
        <a:srgbClr val="FFFFFF"/>
      </a:accent3>
      <a:accent4>
        <a:srgbClr val="000000"/>
      </a:accent4>
      <a:accent5>
        <a:srgbClr val="AAAAFF"/>
      </a:accent5>
      <a:accent6>
        <a:srgbClr val="CDCCAE"/>
      </a:accent6>
      <a:hlink>
        <a:srgbClr val="3D97AF"/>
      </a:hlink>
      <a:folHlink>
        <a:srgbClr val="B72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B69404"/>
      </a:dk2>
      <a:lt2>
        <a:srgbClr val="C0C0C0"/>
      </a:lt2>
      <a:accent1>
        <a:srgbClr val="0000FF"/>
      </a:accent1>
      <a:accent2>
        <a:srgbClr val="E2E1C0"/>
      </a:accent2>
      <a:accent3>
        <a:srgbClr val="FFFFFF"/>
      </a:accent3>
      <a:accent4>
        <a:srgbClr val="000000"/>
      </a:accent4>
      <a:accent5>
        <a:srgbClr val="AAAAFF"/>
      </a:accent5>
      <a:accent6>
        <a:srgbClr val="CDCCAE"/>
      </a:accent6>
      <a:hlink>
        <a:srgbClr val="3D97AF"/>
      </a:hlink>
      <a:folHlink>
        <a:srgbClr val="B72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90eeec5-6cc3-4ef3-bf2b-297b585eb817">
      <UserInfo>
        <DisplayName>Walmart_International_Leads</DisplayName>
        <AccountId>91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1FBE25ABCFD04C8E9C0F2B2AD8D40E" ma:contentTypeVersion="4" ma:contentTypeDescription="Create a new document." ma:contentTypeScope="" ma:versionID="86bdc7deff8b154a0786d5b08ed07940">
  <xsd:schema xmlns:xsd="http://www.w3.org/2001/XMLSchema" xmlns:xs="http://www.w3.org/2001/XMLSchema" xmlns:p="http://schemas.microsoft.com/office/2006/metadata/properties" xmlns:ns2="ab10a55f-a159-4614-876f-17ede722643c" xmlns:ns3="090eeec5-6cc3-4ef3-bf2b-297b585eb817" targetNamespace="http://schemas.microsoft.com/office/2006/metadata/properties" ma:root="true" ma:fieldsID="cdcdd1fabd130e59d98ba77c521bb14e" ns2:_="" ns3:_="">
    <xsd:import namespace="ab10a55f-a159-4614-876f-17ede722643c"/>
    <xsd:import namespace="090eeec5-6cc3-4ef3-bf2b-297b585eb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0a55f-a159-4614-876f-17ede72264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0eeec5-6cc3-4ef3-bf2b-297b585eb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19DAD9-2984-4DB5-AC09-8AC123CD0C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6F455F-6824-4510-879D-1F663CCED0D9}">
  <ds:schemaRefs>
    <ds:schemaRef ds:uri="http://schemas.microsoft.com/office/2006/metadata/properties"/>
    <ds:schemaRef ds:uri="http://schemas.openxmlformats.org/package/2006/metadata/core-properties"/>
    <ds:schemaRef ds:uri="ab10a55f-a159-4614-876f-17ede722643c"/>
    <ds:schemaRef ds:uri="090eeec5-6cc3-4ef3-bf2b-297b585eb817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B877B56-E304-437A-B61F-87CF000CC8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0a55f-a159-4614-876f-17ede722643c"/>
    <ds:schemaRef ds:uri="090eeec5-6cc3-4ef3-bf2b-297b585eb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8573</TotalTime>
  <Pages>8</Pages>
  <Words>232</Words>
  <Application>Microsoft Office PowerPoint</Application>
  <PresentationFormat>Custom</PresentationFormat>
  <Paragraphs>88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 Unicode MS</vt:lpstr>
      <vt:lpstr>Arial</vt:lpstr>
      <vt:lpstr>Segoe UI</vt:lpstr>
      <vt:lpstr>Times New Roman</vt:lpstr>
      <vt:lpstr>Webdings</vt:lpstr>
      <vt:lpstr>Wingdings</vt:lpstr>
      <vt:lpstr>blank</vt:lpstr>
      <vt:lpstr>Industry Chevrons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 Preetham Arani</dc:creator>
  <cp:lastModifiedBy>Vishal Jhangiani</cp:lastModifiedBy>
  <cp:revision>334</cp:revision>
  <cp:lastPrinted>2001-09-28T15:01:44Z</cp:lastPrinted>
  <dcterms:created xsi:type="dcterms:W3CDTF">2017-01-24T16:46:02Z</dcterms:created>
  <dcterms:modified xsi:type="dcterms:W3CDTF">2018-03-15T10:18:35Z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Application">
    <vt:lpwstr>Microsoft Azure Information Protection</vt:lpwstr>
  </property>
  <property fmtid="{D5CDD505-2E9C-101B-9397-08002B2CF9AE}" pid="3" name="Sensitivity">
    <vt:lpwstr>General</vt:lpwstr>
  </property>
  <property fmtid="{D5CDD505-2E9C-101B-9397-08002B2CF9AE}" pid="4" name="MSIP_Label_f42aa342-8706-4288-bd11-ebb85995028c_Enabled">
    <vt:lpwstr>True</vt:lpwstr>
  </property>
  <property fmtid="{D5CDD505-2E9C-101B-9397-08002B2CF9AE}" pid="5" name="ContentTypeId">
    <vt:lpwstr>0x010100791FBE25ABCFD04C8E9C0F2B2AD8D40E</vt:lpwstr>
  </property>
  <property fmtid="{D5CDD505-2E9C-101B-9397-08002B2CF9AE}" pid="6" name="MSIP_Label_f42aa342-8706-4288-bd11-ebb85995028c_Owner">
    <vt:lpwstr>v-assri@microsoft.com</vt:lpwstr>
  </property>
  <property fmtid="{D5CDD505-2E9C-101B-9397-08002B2CF9AE}" pid="7" name="MSIP_Label_f42aa342-8706-4288-bd11-ebb85995028c_SetDate">
    <vt:lpwstr>2018-03-09T21:40:57.0554617Z</vt:lpwstr>
  </property>
  <property fmtid="{D5CDD505-2E9C-101B-9397-08002B2CF9AE}" pid="8" name="MSIP_Label_f42aa342-8706-4288-bd11-ebb85995028c_Name">
    <vt:lpwstr>General</vt:lpwstr>
  </property>
  <property fmtid="{D5CDD505-2E9C-101B-9397-08002B2CF9AE}" pid="9" name="MSIP_Label_f42aa342-8706-4288-bd11-ebb85995028c_SiteId">
    <vt:lpwstr>72f988bf-86f1-41af-91ab-2d7cd011db47</vt:lpwstr>
  </property>
  <property fmtid="{D5CDD505-2E9C-101B-9397-08002B2CF9AE}" pid="10" name="MSIP_Label_f42aa342-8706-4288-bd11-ebb85995028c_Extended_MSFT_Method">
    <vt:lpwstr>Automatic</vt:lpwstr>
  </property>
</Properties>
</file>